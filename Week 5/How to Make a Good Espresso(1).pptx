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5" d="100"/>
          <a:sy n="95" d="100"/>
        </p:scale>
        <p:origin x="7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95437" y="2281237"/>
            <a:ext cx="9001125" cy="1466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775"/>
              </a:lnSpc>
            </a:pPr>
            <a:r>
              <a:rPr sz="5250" b="1" i="0" u="none">
                <a:solidFill>
                  <a:srgbClr val="D4A373"/>
                </a:solidFill>
                <a:latin typeface="Playfair Display"/>
              </a:rPr>
              <a:t>How to make and recognize a good espresso in 5 mins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38600" y="4033837"/>
            <a:ext cx="4114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2100" b="0" i="0" u="none">
                <a:solidFill>
                  <a:srgbClr val="A8A29E"/>
                </a:solidFill>
                <a:latin typeface="Lato"/>
              </a:rPr>
              <a:t>WALTER WIMER HERNANDEZ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1990725"/>
            <a:ext cx="5200650" cy="125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sz="4500" b="0" i="0" u="none">
                <a:solidFill>
                  <a:srgbClr val="D4A373"/>
                </a:solidFill>
                <a:latin typeface="Playfair Display SemiBold"/>
              </a:rPr>
              <a:t>THE HEART OF THE COFFEE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3533775"/>
            <a:ext cx="49530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E7E5E4"/>
                </a:solidFill>
                <a:latin typeface="Lato"/>
              </a:rPr>
              <a:t>A great espresso always starts here.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095750"/>
            <a:ext cx="49530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A8A29E"/>
                </a:solidFill>
                <a:latin typeface="Lato"/>
              </a:rPr>
              <a:t>Freshly ground beans are the absolute foundation of a perfect cup. Never compromise on your grinder.</a:t>
            </a:r>
          </a:p>
        </p:txBody>
      </p:sp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721B3B17-AECC-5345-FD0E-21F4BFC4E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524" y="666364"/>
            <a:ext cx="2985018" cy="57348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00237"/>
            <a:ext cx="3429000" cy="41433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1900237"/>
            <a:ext cx="3429000" cy="4143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900237"/>
            <a:ext cx="3429000" cy="41433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5275" y="571500"/>
            <a:ext cx="1160145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125" b="0" i="0" u="none">
                <a:solidFill>
                  <a:srgbClr val="D4A373"/>
                </a:solidFill>
                <a:latin typeface="Playfair Display SemiBold"/>
              </a:rPr>
              <a:t>3 Steps to Perfection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807" y="4529137"/>
            <a:ext cx="3080385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>
                <a:solidFill>
                  <a:srgbClr val="D4A373"/>
                </a:solidFill>
                <a:latin typeface="Playfair Display SemiBold"/>
              </a:rPr>
              <a:t>1. Fresh Beans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5081587"/>
            <a:ext cx="29337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A8A29E"/>
                </a:solidFill>
                <a:latin typeface="Lato"/>
              </a:rPr>
              <a:t>Use recently roasted beans. Weigh exactly 18g.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5807" y="4529137"/>
            <a:ext cx="3080385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>
                <a:solidFill>
                  <a:srgbClr val="D4A373"/>
                </a:solidFill>
                <a:latin typeface="Playfair Display SemiBold"/>
              </a:rPr>
              <a:t>2. Even Tamp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9150" y="5081587"/>
            <a:ext cx="29337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A8A29E"/>
                </a:solidFill>
                <a:latin typeface="Lato"/>
              </a:rPr>
              <a:t>Level the grounds and press firmly for a flat puck.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5807" y="4529137"/>
            <a:ext cx="3080385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>
                <a:solidFill>
                  <a:srgbClr val="D4A373"/>
                </a:solidFill>
                <a:latin typeface="Playfair Display SemiBold"/>
              </a:rPr>
              <a:t>3. Extract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9150" y="5081587"/>
            <a:ext cx="29337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A8A29E"/>
                </a:solidFill>
                <a:latin typeface="Lato"/>
              </a:rPr>
              <a:t>Watch for a steady, thick flow like warm honey.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2147887"/>
            <a:ext cx="2933700" cy="21431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9150" y="2147887"/>
            <a:ext cx="2933700" cy="21431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9150" y="2147887"/>
            <a:ext cx="2933700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2062162"/>
            <a:ext cx="520065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125" b="0" i="0" u="none">
                <a:solidFill>
                  <a:srgbClr val="D4A373"/>
                </a:solidFill>
                <a:latin typeface="Playfair Display SemiBold"/>
              </a:rPr>
              <a:t>Dialing the Grind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3148012"/>
            <a:ext cx="49530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E7E5E4"/>
                </a:solidFill>
                <a:latin typeface="Lato"/>
              </a:rPr>
              <a:t>The texture is everything.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709987"/>
            <a:ext cx="4953000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A8A29E"/>
                </a:solidFill>
                <a:latin typeface="Lato"/>
              </a:rPr>
              <a:t>Aim for a consistency similar to fine table salt. This provides the exact resistance needed for a perfect 25-30 second extraction.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90649" y="4210050"/>
            <a:ext cx="561070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500" b="1" i="0" u="none">
                <a:solidFill>
                  <a:srgbClr val="D4A373"/>
                </a:solidFill>
                <a:latin typeface="Playfair Display"/>
              </a:rPr>
              <a:t>Recognizing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5162550"/>
            <a:ext cx="762000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25"/>
              </a:lnSpc>
            </a:pPr>
            <a:r>
              <a:rPr sz="1950" b="0" i="0" u="none">
                <a:solidFill>
                  <a:srgbClr val="E7E5E4"/>
                </a:solidFill>
                <a:latin typeface="Lato"/>
              </a:rPr>
              <a:t>A rich, hazelnut-colored crema is the signature of a perfect espresso. It traps the aromas and coats the palate.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319087"/>
            <a:ext cx="1160145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125" b="0" i="0" u="none">
                <a:solidFill>
                  <a:srgbClr val="D4A373"/>
                </a:solidFill>
                <a:latin typeface="Playfair Display SemiBold"/>
              </a:rPr>
              <a:t>Image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404937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2347912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119437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4062412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4833937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23383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23383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31099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31099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40528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40528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48244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48244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57673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1500" y="57673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33537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1547812"/>
            <a:ext cx="99536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E7E5E4"/>
                </a:solidFill>
                <a:latin typeface="Lato"/>
              </a:rPr>
              <a:t>https://graef-global.com/media/thumbs/63/79/888702b875290ec42dd12dad21f7f419fc61/1400x_crop=center;format=webp/managed/34/c6/34c615b540ed4ab1eb34c6bc4ffb50e9/GRAEF_Kaffeemuehle_CM8011_On-Demand-Funktion.jpg.thumb.webp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1966912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E7E5E4"/>
                </a:solidFill>
                <a:latin typeface="La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Lato"/>
              </a:rPr>
              <a:t>graef-global.com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0787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2497931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E7E5E4"/>
                </a:solidFill>
                <a:latin typeface="Lato"/>
              </a:rPr>
              <a:t>https://png.pngtree.com/png-vector/20241204/ourlarge/pngtree-falling-a-few-fresh-coffee-beans-on-transparent-background-png-image_14576826.png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2731293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E7E5E4"/>
                </a:solidFill>
                <a:latin typeface="La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Lato"/>
              </a:rPr>
              <a:t>pngtree.com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348037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66875" y="3262312"/>
            <a:ext cx="99536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E7E5E4"/>
                </a:solidFill>
                <a:latin typeface="Lato"/>
              </a:rPr>
              <a:t>https://media.istockphoto.com/id/2257617499/photo/close-up-of-professional-coffee-tamping-process-in-a-cafe.jpg?s=612x612&amp;w=0&amp;k=20&amp;c=NBV_GAendO5_TIzOzuiWR_ur8gKhLmUT-m9bsZl9JIA=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3681412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E7E5E4"/>
                </a:solidFill>
                <a:latin typeface="La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Lato"/>
              </a:rPr>
              <a:t>www.istockphoto.com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205287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66875" y="4212431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E7E5E4"/>
                </a:solidFill>
                <a:latin typeface="Lato"/>
              </a:rPr>
              <a:t>https://hypergrindcoffee.com.au/cdn/shop/files/Hypergrind-Black-Bottomless-Portafilter.jpg?v=1742388533&amp;width=416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4445793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E7E5E4"/>
                </a:solidFill>
                <a:latin typeface="La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Lato"/>
              </a:rPr>
              <a:t>hypergrindcoffee.com.au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062537"/>
            <a:ext cx="857250" cy="476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66875" y="4976812"/>
            <a:ext cx="99536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E7E5E4"/>
                </a:solidFill>
                <a:latin typeface="Lato"/>
              </a:rPr>
              <a:t>http://ironbeancoffee.com/cdn/shop/articles/how-to-make-a-great-espresso-at-home-without-an-espresso-machine-iron-bean-coffee-company_b6644e13-51bb-4ff2-bc88-4eddbf952cbf.jpg?v=1764133885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6875" y="5395912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E7E5E4"/>
                </a:solidFill>
                <a:latin typeface="La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Lato"/>
              </a:rPr>
              <a:t>ironbeancoffee.com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919787"/>
            <a:ext cx="857250" cy="476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666875" y="5926931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E7E5E4"/>
                </a:solidFill>
                <a:latin typeface="Lato"/>
              </a:rPr>
              <a:t>https://twochimpscoffee.com/wp-content/uploads/2023/01/perfect-crema-2-scaled.jpg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6875" y="6160293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E7E5E4"/>
                </a:solidFill>
                <a:latin typeface="La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Lato"/>
              </a:rPr>
              <a:t>twochimpscoffee.com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340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Lato</vt:lpstr>
      <vt:lpstr>Playfair Display</vt:lpstr>
      <vt:lpstr>Playfair Display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Walter Wimer</cp:lastModifiedBy>
  <cp:revision>2</cp:revision>
  <dcterms:created xsi:type="dcterms:W3CDTF">2013-01-27T09:14:16Z</dcterms:created>
  <dcterms:modified xsi:type="dcterms:W3CDTF">2026-08-13T10:43:37Z</dcterms:modified>
  <cp:category/>
</cp:coreProperties>
</file>